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Inter" panose="02000503000000020004" pitchFamily="2" charset="0"/>
      <p:regular r:id="rId4"/>
      <p:bold r:id="rId5"/>
      <p:italic r:id="rId6"/>
      <p:boldItalic r:id="rId7"/>
    </p:embeddedFont>
    <p:embeddedFont>
      <p:font typeface="Open Sans" panose="020B0606030504020204" pitchFamily="34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92"/>
  </p:normalViewPr>
  <p:slideViewPr>
    <p:cSldViewPr snapToGrid="0">
      <p:cViewPr>
        <p:scale>
          <a:sx n="50" d="100"/>
          <a:sy n="50" d="100"/>
        </p:scale>
        <p:origin x="1680" y="-7544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customschemas.google.com/relationships/presentationmetadata" Target="meta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8120883"/>
            <a:ext cx="29324843" cy="5120236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481161" y="44142736"/>
            <a:ext cx="29304069" cy="1234800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8263110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b="1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762" b="1" noProof="0" dirty="0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lang="pt-BR" noProof="0" dirty="0"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77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lang="pt-BR" noProof="0" dirty="0"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1" y="4700167"/>
            <a:ext cx="28813765" cy="177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434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AbraceAI</a:t>
            </a:r>
            <a:endParaRPr lang="pt-BR" noProof="0" dirty="0"/>
          </a:p>
        </p:txBody>
      </p:sp>
      <p:sp>
        <p:nvSpPr>
          <p:cNvPr id="127" name="Google Shape;127;p1"/>
          <p:cNvSpPr txBox="1"/>
          <p:nvPr/>
        </p:nvSpPr>
        <p:spPr>
          <a:xfrm>
            <a:off x="1836904" y="6399095"/>
            <a:ext cx="25421816" cy="2051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André Gregório, Guilherme Fogolin, Pedro Lemos, Yan </a:t>
            </a:r>
            <a:r>
              <a:rPr lang="pt-BR" sz="4762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Cezareto</a:t>
            </a:r>
            <a:endParaRPr lang="pt-BR" noProof="0" dirty="0"/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pt-BR" sz="4762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Marcos Minoru, Rafael Rossetti, </a:t>
            </a:r>
            <a:r>
              <a:rPr lang="pt-BR" sz="4762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Rodnil</a:t>
            </a:r>
            <a:r>
              <a:rPr lang="pt-BR" sz="4762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Lisboa, Rodrigo Rosa, Victor Rosetti</a:t>
            </a:r>
            <a:endParaRPr lang="pt-BR" noProof="0" dirty="0"/>
          </a:p>
        </p:txBody>
      </p:sp>
      <p:sp>
        <p:nvSpPr>
          <p:cNvPr id="129" name="Google Shape;129;p1"/>
          <p:cNvSpPr txBox="1"/>
          <p:nvPr/>
        </p:nvSpPr>
        <p:spPr>
          <a:xfrm>
            <a:off x="15306278" y="20800000"/>
            <a:ext cx="12433206" cy="373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b="1" noProof="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</a:t>
            </a:r>
            <a:r>
              <a:rPr lang="pt-BR" sz="2400" noProof="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Autoria própria (2026)</a:t>
            </a:r>
            <a:endParaRPr lang="pt-BR" sz="2400" noProof="0" dirty="0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lang="pt-BR" noProof="0" dirty="0"/>
          </a:p>
        </p:txBody>
      </p:sp>
      <p:sp>
        <p:nvSpPr>
          <p:cNvPr id="131" name="Google Shape;131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lang="pt-BR" noProof="0" dirty="0"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lang="pt-BR" noProof="0" dirty="0"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lang="pt-BR" noProof="0" dirty="0"/>
          </a:p>
        </p:txBody>
      </p:sp>
      <p:sp>
        <p:nvSpPr>
          <p:cNvPr id="136" name="Google Shape;136;p1"/>
          <p:cNvSpPr txBox="1"/>
          <p:nvPr/>
        </p:nvSpPr>
        <p:spPr>
          <a:xfrm>
            <a:off x="1417666" y="10749578"/>
            <a:ext cx="12830146" cy="8867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Contagem manual de itens 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— seja das doações ou do estoque — é um processo lento, repetitivo e altamente sujeito a erros humanos.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Impacto real: 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falhas na contagem de doações podem prejudicar famílias em situação de vulnerabilidade e comprometer a credibilidade de projetos sociais como o Lideranças Empáticas, 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parceiro da FECAP nesse semestre.</a:t>
            </a: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Dificuldades tecnológicas: 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soluções robustas de automação e visão computacional existem no mercado, mas são caras e inacessíveis para pequenos empreendedores e ONGs.</a:t>
            </a:r>
          </a:p>
        </p:txBody>
      </p:sp>
      <p:sp>
        <p:nvSpPr>
          <p:cNvPr id="137" name="Google Shape;137;p1"/>
          <p:cNvSpPr txBox="1"/>
          <p:nvPr/>
        </p:nvSpPr>
        <p:spPr>
          <a:xfrm>
            <a:off x="1417666" y="20897109"/>
            <a:ext cx="12830146" cy="8867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Criação do </a:t>
            </a:r>
            <a:r>
              <a:rPr lang="pt-BR" sz="343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AbraceAI</a:t>
            </a: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integração de </a:t>
            </a:r>
            <a:r>
              <a:rPr lang="pt-BR" sz="343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intelig</a:t>
            </a:r>
            <a:r>
              <a:rPr lang="pt-BR" sz="3430" dirty="0" err="1">
                <a:latin typeface="Open Sans"/>
                <a:ea typeface="Open Sans"/>
                <a:cs typeface="Open Sans"/>
                <a:sym typeface="Open Sans"/>
              </a:rPr>
              <a:t>ência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 artificial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visão computacional para substituir a contagem manual por um processo automatizado e dinâmico.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Interface web: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qualquer usuário — aluno, mentor ou professores — pode realizar capturas e acompanhar os dados em tempo real por dashboards online.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Auditoria e transparência: </a:t>
            </a:r>
            <a:r>
              <a:rPr lang="pt-BR" sz="343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Poss</a:t>
            </a:r>
            <a:r>
              <a:rPr lang="pt-BR" sz="3430" dirty="0" err="1">
                <a:latin typeface="Open Sans"/>
                <a:ea typeface="Open Sans"/>
                <a:cs typeface="Open Sans"/>
                <a:sym typeface="Open Sans"/>
              </a:rPr>
              <a:t>ível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 validar se as quantidades informadas de arrecadação condizem com a realidade, evitando dados errados e descredibilidade das doações.</a:t>
            </a: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b="1" noProof="0" dirty="0">
                <a:latin typeface="Open Sans"/>
                <a:ea typeface="Open Sans"/>
                <a:cs typeface="Open Sans"/>
                <a:sym typeface="Open Sans"/>
              </a:rPr>
              <a:t>IV </a:t>
            </a:r>
            <a:r>
              <a:rPr lang="pt-BR" sz="4955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SEMANA FECAP DE TECNOLOGIA - 2026</a:t>
            </a:r>
            <a:endParaRPr lang="pt-BR" noProof="0" dirty="0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lang="pt-BR" noProof="0" dirty="0"/>
          </a:p>
        </p:txBody>
      </p:sp>
      <p:sp>
        <p:nvSpPr>
          <p:cNvPr id="139" name="Google Shape;139;p1"/>
          <p:cNvSpPr txBox="1"/>
          <p:nvPr/>
        </p:nvSpPr>
        <p:spPr>
          <a:xfrm>
            <a:off x="15617816" y="10880630"/>
            <a:ext cx="11904157" cy="3694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Alta precisão comprovada: 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modelo atingiu mAP50 ≈ 0,75 ao longo do treinamento — valor considerado bom em detecção por visão computacional —, confirmando assertividade na identificação e contagem automática de itens e equiparando a confiabilidade da triagem manual.</a:t>
            </a:r>
            <a:endParaRPr lang="pt-BR" noProof="0" dirty="0"/>
          </a:p>
        </p:txBody>
      </p:sp>
      <p:pic>
        <p:nvPicPr>
          <p:cNvPr id="4" name="Imagem 3" descr="Gráfico, Gráfico de dispersão&#10;&#10;O conteúdo gerado por IA pode estar incorreto.">
            <a:extLst>
              <a:ext uri="{FF2B5EF4-FFF2-40B4-BE49-F238E27FC236}">
                <a16:creationId xmlns:a16="http://schemas.microsoft.com/office/drawing/2014/main" id="{8D228902-CA70-F7A3-4D44-0D1EF3E239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352408" y="14851174"/>
            <a:ext cx="4698280" cy="58534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139;p1">
            <a:extLst>
              <a:ext uri="{FF2B5EF4-FFF2-40B4-BE49-F238E27FC236}">
                <a16:creationId xmlns:a16="http://schemas.microsoft.com/office/drawing/2014/main" id="{8566731F-D9CF-791E-95BB-2C57B975343B}"/>
              </a:ext>
            </a:extLst>
          </p:cNvPr>
          <p:cNvSpPr txBox="1"/>
          <p:nvPr/>
        </p:nvSpPr>
        <p:spPr>
          <a:xfrm>
            <a:off x="15714841" y="21501764"/>
            <a:ext cx="11904157" cy="812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Baixo custo e acessível: 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sistema opera com webcam comum via interface web, eliminando a necessidade de hardware especializado ou dispositivos caros, o que poderia inviabilizar a solução para </a:t>
            </a:r>
            <a:r>
              <a:rPr lang="pt-BR" sz="343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ONG’s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pequenos negócios.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Cobertura dos itens: 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modelo foi treinado e validado para reconhecer os principais alimentos de cesta básica — os itens mais frequentemente doados em campanhas solidárias —, garantindo que o </a:t>
            </a:r>
            <a:r>
              <a:rPr lang="pt-BR" sz="343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AbraceAI</a:t>
            </a:r>
            <a:r>
              <a:rPr lang="pt-BR" sz="343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atenda à realidade prática das coletas desde o primeiro uso.</a:t>
            </a:r>
          </a:p>
        </p:txBody>
      </p:sp>
      <p:sp>
        <p:nvSpPr>
          <p:cNvPr id="7" name="Google Shape;139;p1">
            <a:extLst>
              <a:ext uri="{FF2B5EF4-FFF2-40B4-BE49-F238E27FC236}">
                <a16:creationId xmlns:a16="http://schemas.microsoft.com/office/drawing/2014/main" id="{F12202AE-0C81-3DDF-09A2-EF47E000DD8B}"/>
              </a:ext>
            </a:extLst>
          </p:cNvPr>
          <p:cNvSpPr txBox="1"/>
          <p:nvPr/>
        </p:nvSpPr>
        <p:spPr>
          <a:xfrm>
            <a:off x="1417666" y="31713968"/>
            <a:ext cx="12982546" cy="738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Visão computacional e inteligência artificial </a:t>
            </a: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28" name="Picture 4" descr="What is YOLOv8? Exploring its Cutting-Edge Features – YOLOv8">
            <a:extLst>
              <a:ext uri="{FF2B5EF4-FFF2-40B4-BE49-F238E27FC236}">
                <a16:creationId xmlns:a16="http://schemas.microsoft.com/office/drawing/2014/main" id="{A05605BF-B16B-F689-B758-90FDE8664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167"/>
          <a:stretch>
            <a:fillRect/>
          </a:stretch>
        </p:blipFill>
        <p:spPr bwMode="auto">
          <a:xfrm>
            <a:off x="7426843" y="32421131"/>
            <a:ext cx="3299833" cy="1402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ABE13B4D-CC11-8038-A1CA-1A9E2C855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2620" y="32519786"/>
            <a:ext cx="1154320" cy="115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39;p1">
            <a:extLst>
              <a:ext uri="{FF2B5EF4-FFF2-40B4-BE49-F238E27FC236}">
                <a16:creationId xmlns:a16="http://schemas.microsoft.com/office/drawing/2014/main" id="{B92DDC4E-24A3-0A67-B08D-FE6587AFC599}"/>
              </a:ext>
            </a:extLst>
          </p:cNvPr>
          <p:cNvSpPr txBox="1"/>
          <p:nvPr/>
        </p:nvSpPr>
        <p:spPr>
          <a:xfrm>
            <a:off x="1386002" y="34023739"/>
            <a:ext cx="12982546" cy="738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Tratamento de dados</a:t>
            </a: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" name="Google Shape;139;p1">
            <a:extLst>
              <a:ext uri="{FF2B5EF4-FFF2-40B4-BE49-F238E27FC236}">
                <a16:creationId xmlns:a16="http://schemas.microsoft.com/office/drawing/2014/main" id="{222F1010-FBE1-6341-0E7D-D8DA4AED422A}"/>
              </a:ext>
            </a:extLst>
          </p:cNvPr>
          <p:cNvSpPr txBox="1"/>
          <p:nvPr/>
        </p:nvSpPr>
        <p:spPr>
          <a:xfrm>
            <a:off x="1360173" y="35931606"/>
            <a:ext cx="12982546" cy="738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Desenvolvimento </a:t>
            </a:r>
            <a:r>
              <a:rPr lang="pt-BR" sz="3430" b="1" dirty="0" err="1">
                <a:latin typeface="Open Sans"/>
                <a:ea typeface="Open Sans"/>
                <a:cs typeface="Open Sans"/>
                <a:sym typeface="Open Sans"/>
              </a:rPr>
              <a:t>frontend</a:t>
            </a: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pt-BR" sz="3430" b="1" dirty="0" err="1">
                <a:latin typeface="Open Sans"/>
                <a:ea typeface="Open Sans"/>
                <a:cs typeface="Open Sans"/>
                <a:sym typeface="Open Sans"/>
              </a:rPr>
              <a:t>backend</a:t>
            </a:r>
            <a:endParaRPr lang="pt-BR" sz="3430" noProof="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85BC7122-51D7-745A-7AE2-3E3CBC3211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3558" y="34678963"/>
            <a:ext cx="3046222" cy="1236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30EE11F9-0142-CB2D-19E8-BEDC52C26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1312" y="34626377"/>
            <a:ext cx="3695253" cy="123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B6D5D59B-B4E3-CD49-4CFF-C662288F32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6244" y="34663205"/>
            <a:ext cx="2736873" cy="123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565B0B9D-E281-2C7C-7E38-3B18E40B3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3678" y="32456294"/>
            <a:ext cx="2287329" cy="123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FF39C900-26BB-F110-0E28-0194A03E01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6967" y="36834666"/>
            <a:ext cx="1387620" cy="123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>
            <a:extLst>
              <a:ext uri="{FF2B5EF4-FFF2-40B4-BE49-F238E27FC236}">
                <a16:creationId xmlns:a16="http://schemas.microsoft.com/office/drawing/2014/main" id="{31B5B8AC-D63E-8492-613F-D8445F60C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3236" y="36887771"/>
            <a:ext cx="1234800" cy="123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About - Label Studio Newsletter">
            <a:extLst>
              <a:ext uri="{FF2B5EF4-FFF2-40B4-BE49-F238E27FC236}">
                <a16:creationId xmlns:a16="http://schemas.microsoft.com/office/drawing/2014/main" id="{EF15D0AD-9E9D-E2C4-226C-8FF8897B9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8556" y="32306154"/>
            <a:ext cx="2318915" cy="2063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Google Shape;139;p1">
            <a:extLst>
              <a:ext uri="{FF2B5EF4-FFF2-40B4-BE49-F238E27FC236}">
                <a16:creationId xmlns:a16="http://schemas.microsoft.com/office/drawing/2014/main" id="{D6789271-44D6-7D28-D355-82181A8724B4}"/>
              </a:ext>
            </a:extLst>
          </p:cNvPr>
          <p:cNvSpPr txBox="1"/>
          <p:nvPr/>
        </p:nvSpPr>
        <p:spPr>
          <a:xfrm>
            <a:off x="15714840" y="31688607"/>
            <a:ext cx="11904157" cy="639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ELECTRONICS, </a:t>
            </a:r>
            <a:r>
              <a:rPr lang="pt-BR" sz="280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Edje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How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Train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YOLO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Object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Detection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Models in Google Colab (YOLO26, YOLO11, YOLOv8). 2025. 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Disponível em: https://</a:t>
            </a:r>
            <a:r>
              <a:rPr lang="pt-BR" sz="280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www.youtube.com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/</a:t>
            </a:r>
            <a:r>
              <a:rPr lang="pt-BR" sz="280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watch?v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=r0RspiLG260&amp;t=1091s. Acesso em: 02 abr. 2026.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800" b="1" dirty="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LABEL Studio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Documentation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2026. Disponível em: https://</a:t>
            </a:r>
            <a:r>
              <a:rPr lang="pt-BR" sz="280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labelstud.io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/</a:t>
            </a:r>
            <a:r>
              <a:rPr lang="pt-BR" sz="280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quick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-start/. Acesso em: 02 abr. 2026.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800" dirty="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TEIMOURPOUR, </a:t>
            </a:r>
            <a:r>
              <a:rPr lang="pt-BR" sz="280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Babak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Computer Vision in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the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Food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Industry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Accurate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Real-time,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and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Automatic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Food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Recognition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with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pt-BR" sz="2800" b="1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Pretrained</a:t>
            </a:r>
            <a:r>
              <a:rPr lang="pt-BR" sz="2800" b="1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MobileNetV2. 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2024. Disponível em: https://</a:t>
            </a:r>
            <a:r>
              <a:rPr lang="pt-BR" sz="280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arxiv.org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/</a:t>
            </a:r>
            <a:r>
              <a:rPr lang="pt-BR" sz="2800" noProof="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abs</a:t>
            </a:r>
            <a:r>
              <a:rPr lang="pt-BR" sz="2800" noProof="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/2405.11621. Acesso em: 15 fev. 2026.</a:t>
            </a:r>
          </a:p>
        </p:txBody>
      </p:sp>
      <p:pic>
        <p:nvPicPr>
          <p:cNvPr id="1026" name="Picture 2" descr="FastAPI · GitHub">
            <a:extLst>
              <a:ext uri="{FF2B5EF4-FFF2-40B4-BE49-F238E27FC236}">
                <a16:creationId xmlns:a16="http://schemas.microsoft.com/office/drawing/2014/main" id="{C2080E32-3A66-8994-0DB7-40D289AEF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13289" y="36794665"/>
            <a:ext cx="1234800" cy="123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472</Words>
  <Application>Microsoft Macintosh PowerPoint</Application>
  <PresentationFormat>Personalizar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Arial</vt:lpstr>
      <vt:lpstr>Inter</vt:lpstr>
      <vt:lpstr>Calibri</vt:lpstr>
      <vt:lpstr>Open Sans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Guilherme Fogolin</cp:lastModifiedBy>
  <cp:revision>3</cp:revision>
  <cp:lastPrinted>2026-05-02T19:53:44Z</cp:lastPrinted>
  <dcterms:created xsi:type="dcterms:W3CDTF">2006-08-16T00:00:00Z</dcterms:created>
  <dcterms:modified xsi:type="dcterms:W3CDTF">2026-05-04T00:57:04Z</dcterms:modified>
</cp:coreProperties>
</file>