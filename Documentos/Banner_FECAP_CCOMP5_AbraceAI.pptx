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00503000000020004" pitchFamily="2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78"/>
  </p:normalViewPr>
  <p:slideViewPr>
    <p:cSldViewPr snapToGrid="0">
      <p:cViewPr>
        <p:scale>
          <a:sx n="50" d="100"/>
          <a:sy n="50" d="100"/>
        </p:scale>
        <p:origin x="2192" y="-6568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8120883"/>
            <a:ext cx="29324843" cy="5120236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481161" y="44142736"/>
            <a:ext cx="29304069" cy="1234800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826311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sz="6769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sz="6769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762" b="1" noProof="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lang="pt-BR" noProof="0"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77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lang="pt-BR" noProof="0" dirty="0"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34" b="1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AbraceAI</a:t>
            </a:r>
            <a:endParaRPr lang="pt-BR" noProof="0"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836904" y="6399095"/>
            <a:ext cx="25421816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André Gregório, Guilherme Fogolin, Pedro Lemos, Yan </a:t>
            </a:r>
            <a:r>
              <a:rPr lang="pt-BR" sz="4762" b="1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Cezareto</a:t>
            </a:r>
            <a:endParaRPr lang="pt-BR" noProof="0"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pt-BR" sz="4762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Marcos Minoru, Rafael Rossetti, </a:t>
            </a:r>
            <a:r>
              <a:rPr lang="pt-BR" sz="4762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Rodnil</a:t>
            </a:r>
            <a:r>
              <a:rPr lang="pt-BR" sz="4762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Lisboa, Rodrigo Rosa, Victor Rosetti</a:t>
            </a:r>
            <a:endParaRPr lang="pt-BR" noProof="0"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306278" y="20800000"/>
            <a:ext cx="12433206" cy="37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pt-BR" sz="2400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 própria (2026)</a:t>
            </a:r>
            <a:endParaRPr lang="pt-BR" sz="2400" noProof="0"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lang="pt-BR" noProof="0"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lang="pt-BR" noProof="0"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lang="pt-BR" noProof="0" dirty="0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lang="pt-BR" noProof="0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417666" y="10749578"/>
            <a:ext cx="12830146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Contagem manual de itens: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seja das doações ou do estoque, é um processo lento, repetitivo e altamente sujeito a erros humanos, não garantindo total assertividade no processo.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Impacto real: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falhas na contagem de doações podem prejudicar famílias em situação de vulnerabilidade e comprometer a credibilidade de projetos sociais como o Lideranças Empáticas, 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parceiro da FECAP nesse semestre.</a:t>
            </a: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Dificuldades tecnológicas: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soluções robustas de automação e visão computacional existem no mercado, mas são caras e inacessíveis para pequenos empreendedores e ONGs.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1417666" y="20897109"/>
            <a:ext cx="12830146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Criação do </a:t>
            </a:r>
            <a:r>
              <a:rPr lang="pt-BR" sz="3430" b="1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AbraceAI</a:t>
            </a: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integração de </a:t>
            </a:r>
            <a:r>
              <a:rPr lang="pt-BR" sz="3430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intelig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ência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artificial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visão computacional para substituir a contagem manual por um processo automatizado e dinâmico.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Interface web: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qualquer usuário (aluno, mentor ou professores) pode realizar capturas e acompanhar os dados em tempo real por dashboards online.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Auditoria e transparência: </a:t>
            </a:r>
            <a:r>
              <a:rPr lang="pt-BR" sz="3430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ível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validar se as quantidades informadas de arrecadação condizem com a realidade, evitando dados errados e descredibilidade das doações.</a:t>
            </a: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955" b="1" noProof="0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pt-BR" sz="4955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lang="pt-BR" noProof="0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955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lang="pt-BR" noProof="0" dirty="0"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369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Alta precisão comprovada: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modelo atingiu mAP@50 ≈ 0,75 ao longo do treinamento, um valor considerado bom em detecção por visão computacional, confirmando assertividade na identificação e contagem automática de itens e equiparando a confiabilidade da triagem manual.</a:t>
            </a:r>
            <a:endParaRPr lang="pt-BR" noProof="0" dirty="0"/>
          </a:p>
        </p:txBody>
      </p:sp>
      <p:pic>
        <p:nvPicPr>
          <p:cNvPr id="4" name="Imagem 3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8D228902-CA70-F7A3-4D44-0D1EF3E23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2408" y="14851174"/>
            <a:ext cx="4698280" cy="5853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39;p1">
            <a:extLst>
              <a:ext uri="{FF2B5EF4-FFF2-40B4-BE49-F238E27FC236}">
                <a16:creationId xmlns:a16="http://schemas.microsoft.com/office/drawing/2014/main" id="{8566731F-D9CF-791E-95BB-2C57B975343B}"/>
              </a:ext>
            </a:extLst>
          </p:cNvPr>
          <p:cNvSpPr txBox="1"/>
          <p:nvPr/>
        </p:nvSpPr>
        <p:spPr>
          <a:xfrm>
            <a:off x="15714841" y="21501764"/>
            <a:ext cx="11904157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Baixo custo e acessível: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opera com webcam comum via web, eliminando a necessidade de hardwares especializados, como GPU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’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e câmeras de alta resolução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barateando a solução, o que, caso contrário, poderia inviabilizar a solução para </a:t>
            </a:r>
            <a:r>
              <a:rPr lang="pt-BR" sz="3430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ONG’s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pequenos negócios.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dos itens: 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modelo foi treinado e validado para reconhecer os principais alimentos de cesta básica (os itens mais frequentemente doados em campanhas solidárias), garantindo que o </a:t>
            </a:r>
            <a:r>
              <a:rPr lang="pt-BR" sz="3430" noProof="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AbraceAI</a:t>
            </a:r>
            <a:r>
              <a:rPr lang="pt-BR" sz="3430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atenda à realidade prática das coletas desde o primeiro uso.</a:t>
            </a:r>
          </a:p>
        </p:txBody>
      </p:sp>
      <p:sp>
        <p:nvSpPr>
          <p:cNvPr id="7" name="Google Shape;139;p1">
            <a:extLst>
              <a:ext uri="{FF2B5EF4-FFF2-40B4-BE49-F238E27FC236}">
                <a16:creationId xmlns:a16="http://schemas.microsoft.com/office/drawing/2014/main" id="{F12202AE-0C81-3DDF-09A2-EF47E000DD8B}"/>
              </a:ext>
            </a:extLst>
          </p:cNvPr>
          <p:cNvSpPr txBox="1"/>
          <p:nvPr/>
        </p:nvSpPr>
        <p:spPr>
          <a:xfrm>
            <a:off x="1417666" y="31713968"/>
            <a:ext cx="12982546" cy="73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Visão computacional e inteligência artificial </a:t>
            </a: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8" name="Picture 4" descr="What is YOLOv8? Exploring its Cutting-Edge Features – YOLOv8">
            <a:extLst>
              <a:ext uri="{FF2B5EF4-FFF2-40B4-BE49-F238E27FC236}">
                <a16:creationId xmlns:a16="http://schemas.microsoft.com/office/drawing/2014/main" id="{A05605BF-B16B-F689-B758-90FDE8664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67"/>
          <a:stretch>
            <a:fillRect/>
          </a:stretch>
        </p:blipFill>
        <p:spPr bwMode="auto">
          <a:xfrm>
            <a:off x="7194710" y="32471756"/>
            <a:ext cx="3299833" cy="140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BE13B4D-CC11-8038-A1CA-1A9E2C855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92" y="32570133"/>
            <a:ext cx="1154320" cy="115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39;p1">
            <a:extLst>
              <a:ext uri="{FF2B5EF4-FFF2-40B4-BE49-F238E27FC236}">
                <a16:creationId xmlns:a16="http://schemas.microsoft.com/office/drawing/2014/main" id="{B92DDC4E-24A3-0A67-B08D-FE6587AFC599}"/>
              </a:ext>
            </a:extLst>
          </p:cNvPr>
          <p:cNvSpPr txBox="1"/>
          <p:nvPr/>
        </p:nvSpPr>
        <p:spPr>
          <a:xfrm>
            <a:off x="1386002" y="34023739"/>
            <a:ext cx="12982546" cy="73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Tratamento de dados</a:t>
            </a: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39;p1">
            <a:extLst>
              <a:ext uri="{FF2B5EF4-FFF2-40B4-BE49-F238E27FC236}">
                <a16:creationId xmlns:a16="http://schemas.microsoft.com/office/drawing/2014/main" id="{222F1010-FBE1-6341-0E7D-D8DA4AED422A}"/>
              </a:ext>
            </a:extLst>
          </p:cNvPr>
          <p:cNvSpPr txBox="1"/>
          <p:nvPr/>
        </p:nvSpPr>
        <p:spPr>
          <a:xfrm>
            <a:off x="1360173" y="35931606"/>
            <a:ext cx="12982546" cy="73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b="1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Desenvolvimento </a:t>
            </a:r>
            <a:r>
              <a:rPr lang="pt-BR" sz="3430" b="1" dirty="0" err="1"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pt-BR" sz="3430" b="1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pt-BR" sz="3430" b="1" dirty="0" err="1"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 lang="pt-BR" sz="3430" noProof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5BC7122-51D7-745A-7AE2-3E3CBC321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425" y="34729162"/>
            <a:ext cx="3046222" cy="123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0EE11F9-0142-CB2D-19E8-BEDC52C2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112" y="34653578"/>
            <a:ext cx="3695253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6D5D59B-B4E3-CD49-4CFF-C662288F3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543" y="34685934"/>
            <a:ext cx="2736873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65B0B9D-E281-2C7C-7E38-3B18E40B3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4142" y="32528783"/>
            <a:ext cx="2287329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FF39C900-26BB-F110-0E28-0194A03E0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157" y="36861010"/>
            <a:ext cx="1387620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1B5B8AC-D63E-8492-613F-D8445F60C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037" y="36778337"/>
            <a:ext cx="1234800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bout - Label Studio Newsletter">
            <a:extLst>
              <a:ext uri="{FF2B5EF4-FFF2-40B4-BE49-F238E27FC236}">
                <a16:creationId xmlns:a16="http://schemas.microsoft.com/office/drawing/2014/main" id="{EF15D0AD-9E9D-E2C4-226C-8FF8897B9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010" y="32305453"/>
            <a:ext cx="2318915" cy="206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39;p1">
            <a:extLst>
              <a:ext uri="{FF2B5EF4-FFF2-40B4-BE49-F238E27FC236}">
                <a16:creationId xmlns:a16="http://schemas.microsoft.com/office/drawing/2014/main" id="{D6789271-44D6-7D28-D355-82181A8724B4}"/>
              </a:ext>
            </a:extLst>
          </p:cNvPr>
          <p:cNvSpPr txBox="1"/>
          <p:nvPr/>
        </p:nvSpPr>
        <p:spPr>
          <a:xfrm>
            <a:off x="15714840" y="31688607"/>
            <a:ext cx="11904157" cy="629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ROKHVA,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Shayan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TEIMOURPOUR,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Babak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SOLTANI, Amir Hossein. 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Computer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vision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food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industry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accurate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real-time,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automatic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food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recognition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pretrained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MobileNetV2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arXiv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2024. arXiv:2405.11621. Disponível em: https://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arxiv.org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/2405.11621. Acesso em: 16 fev. 2026.</a:t>
            </a:r>
          </a:p>
          <a:p>
            <a:pPr lvl="0" algn="just">
              <a:lnSpc>
                <a:spcPct val="140000"/>
              </a:lnSpc>
            </a:pPr>
            <a:endParaRPr lang="pt-BR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just">
              <a:lnSpc>
                <a:spcPct val="140000"/>
              </a:lnSpc>
            </a:pP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YANG,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Yuanyuan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AN,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Ruopeng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FANG, Cao; FERRIS, Dan. 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Artificial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intelligence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food bank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pantry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services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</a:t>
            </a:r>
            <a:r>
              <a:rPr lang="pt-BR" sz="28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systematic</a:t>
            </a:r>
            <a:r>
              <a:rPr lang="pt-B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review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Nutrients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v. 17, 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9, p. 1461, 26 abr. 2025. DOI: 10.3390/nu17091461. Disponível em: https://</a:t>
            </a:r>
            <a:r>
              <a:rPr lang="pt-B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www.mdpi.com</a:t>
            </a:r>
            <a:r>
              <a:rPr lang="pt-B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/2072-6643/17/9/1461. Acesso em: 15 fev. 2026.</a:t>
            </a:r>
            <a:endParaRPr lang="pt-BR" sz="2800" noProof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1026" name="Picture 2" descr="FastAPI · GitHub">
            <a:extLst>
              <a:ext uri="{FF2B5EF4-FFF2-40B4-BE49-F238E27FC236}">
                <a16:creationId xmlns:a16="http://schemas.microsoft.com/office/drawing/2014/main" id="{C2080E32-3A66-8994-0DB7-40D289AE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370" y="36815167"/>
            <a:ext cx="1234800" cy="123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507</Words>
  <Application>Microsoft Macintosh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Open Sans</vt:lpstr>
      <vt:lpstr>Inter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Guilherme Fogolin</cp:lastModifiedBy>
  <cp:revision>4</cp:revision>
  <cp:lastPrinted>2026-05-02T19:53:44Z</cp:lastPrinted>
  <dcterms:created xsi:type="dcterms:W3CDTF">2006-08-16T00:00:00Z</dcterms:created>
  <dcterms:modified xsi:type="dcterms:W3CDTF">2026-05-10T14:27:29Z</dcterms:modified>
</cp:coreProperties>
</file>